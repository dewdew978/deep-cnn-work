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การรู้จำตัวอักษรภาษาไทยด้วยโครงข่ายประสาทแบบคอนโวลูชัน (CNN)</a:t>
            </a:r>
          </a:p>
          <a:p>
            <a:pPr>
              <a:spcBef>
                <a:spcPts val="1200"/>
              </a:spcBef>
              <a:defRPr sz="2000">
                <a:solidFill>
                  <a:srgbClr val="0EA5E9"/>
                </a:solidFill>
              </a:defRPr>
            </a:pPr>
            <a:r>
              <a:t>ร่วมกับเทคนิคการถ่ายโอนความรู้ (Transfer Learning) และการสังเคราะห์ข้อมูล (Data Augmentation)</a:t>
            </a:r>
          </a:p>
          <a:p>
            <a:pPr>
              <a:spcBef>
                <a:spcPts val="1000"/>
              </a:spcBef>
              <a:defRPr sz="1300" i="1">
                <a:solidFill>
                  <a:srgbClr val="94A3B8"/>
                </a:solidFill>
              </a:defRPr>
            </a:pPr>
            <a:r>
              <a:t>Thai Character Recognition using CNN, Transfer Learning &amp; Data Augmentation with Severe Class Imbalance Mitigation</a:t>
            </a:r>
          </a:p>
          <a:p>
            <a:pPr>
              <a:spcBef>
                <a:spcPts val="2400"/>
              </a:spcBef>
              <a:defRPr sz="1400">
                <a:solidFill>
                  <a:srgbClr val="FFFFFF"/>
                </a:solidFill>
              </a:defRPr>
            </a:pPr>
            <a:r>
              <a:t>กำหนดนำเสนอ: 25 กันยายน 2569 | ห้อง 304 | รายวิชา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1. แนะนำสมาชิกในกลุ่ม (Team Members)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สมาชิกคนที่ 1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นาย/นางสาว _____________________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รหัสนักศึกษา: 6XXXXXXXX</a:t>
            </a:r>
          </a:p>
          <a:p>
            <a:pPr>
              <a:spcBef>
                <a:spcPts val="400"/>
              </a:spcBef>
              <a:defRPr sz="1100">
                <a:solidFill>
                  <a:srgbClr val="1A2B4C"/>
                </a:solidFill>
              </a:defRPr>
            </a:pPr>
            <a:r>
              <a:t>บทบาท: Model Architecture &amp; Transfer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สมาชิกคนที่ 2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นาย/นางสาว _____________________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รหัสนักศึกษา: 6XXXXXXXX</a:t>
            </a:r>
          </a:p>
          <a:p>
            <a:pPr>
              <a:spcBef>
                <a:spcPts val="400"/>
              </a:spcBef>
              <a:defRPr sz="1100">
                <a:solidFill>
                  <a:srgbClr val="1A2B4C"/>
                </a:solidFill>
              </a:defRPr>
            </a:pPr>
            <a:r>
              <a:t>บทบาท: Data Preparation &amp; Stratified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สมาชิกคนที่ 3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นาย/นางสาว _____________________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รหัสนักศึกษา: 6XXXXXXXX</a:t>
            </a:r>
          </a:p>
          <a:p>
            <a:pPr>
              <a:spcBef>
                <a:spcPts val="400"/>
              </a:spcBef>
              <a:defRPr sz="1100">
                <a:solidFill>
                  <a:srgbClr val="1A2B4C"/>
                </a:solidFill>
              </a:defRPr>
            </a:pPr>
            <a:r>
              <a:t>บทบาท: Data Augmentation &amp; Imbalance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สมาชิกคนที่ 4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นาย/นางสาว _____________________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รหัสนักศึกษา: 6XXXXXXXX</a:t>
            </a:r>
          </a:p>
          <a:p>
            <a:pPr>
              <a:spcBef>
                <a:spcPts val="400"/>
              </a:spcBef>
              <a:defRPr sz="1100">
                <a:solidFill>
                  <a:srgbClr val="1A2B4C"/>
                </a:solidFill>
              </a:defRPr>
            </a:pPr>
            <a:r>
              <a:t>บทบาท: Model Training &amp; Hyperparameter Tuning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32918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สมาชิกคนที่ 5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นาย/นางสาว _____________________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รหัสนักศึกษา: 6XXXXXXXX</a:t>
            </a:r>
          </a:p>
          <a:p>
            <a:pPr>
              <a:spcBef>
                <a:spcPts val="400"/>
              </a:spcBef>
              <a:defRPr sz="1100">
                <a:solidFill>
                  <a:srgbClr val="1A2B4C"/>
                </a:solidFill>
              </a:defRPr>
            </a:pPr>
            <a:r>
              <a:t>บทบาท: Inference Pipeline &amp; Performance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023360"/>
            <a:ext cx="3291840" cy="20116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สมาชิกคนที่ 6</a:t>
            </a:r>
          </a:p>
          <a:p>
            <a:pPr>
              <a:spcBef>
                <a:spcPts val="400"/>
              </a:spcBef>
              <a:defRPr sz="1300" b="1">
                <a:solidFill>
                  <a:srgbClr val="1E293B"/>
                </a:solidFill>
              </a:defRPr>
            </a:pPr>
            <a:r>
              <a:t>นาย/นางสาว _____________________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รหัสนักศึกษา: 6XXXXXXXX</a:t>
            </a:r>
          </a:p>
          <a:p>
            <a:pPr>
              <a:spcBef>
                <a:spcPts val="400"/>
              </a:spcBef>
              <a:defRPr sz="1100">
                <a:solidFill>
                  <a:srgbClr val="1A2B4C"/>
                </a:solidFill>
              </a:defRPr>
            </a:pPr>
            <a:r>
              <a:t>บทบาท: Presentation, Slides &amp;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2. ภาพรวมชุดข้อมูล (Dataset Overview &amp; Characteristics)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t>72 คลาส (TIS-620)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พยัญชนะ (ก-ฮ) + สระ/วรรณยุกต์</a:t>
            </a:r>
            <a:br/>
            <a:r>
              <a:t>+ ตัวเลขไทย (๐-๙) ครบสมบูรณ์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2B4C"/>
                </a:solidFill>
              </a:defRPr>
            </a:pPr>
            <a:r>
              <a:t>62,707 รูปภาพ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รูปภาพตัวอักษรและตัวเลขขาว-ดำ</a:t>
            </a:r>
            <a:br/>
            <a:r>
              <a:t>ความหลากหลายของฟอนต์และลายมือ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6A34A"/>
                </a:solidFill>
              </a:defRPr>
            </a:pPr>
            <a:r>
              <a:t>สัดส่วน Train 80% / Val 20%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Train: 50,162 ภาพ (80%)</a:t>
            </a:r>
            <a:br/>
            <a:r>
              <a:t>Validation: 12,547 ภาพ (20%)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30175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7472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B4C"/>
                </a:solidFill>
              </a:defRPr>
            </a:pPr>
            <a:r>
              <a:t>ลักษณะสำคัญของชุดข้อมูล Thai Character Dataset (72 คลาส):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การครอบคลุมคลาส (72 คลาส): ประกอบด้วย พยัญชนะไทย 41 ตัว (ก-ฮ), สระ/วรรณยุกต์ 21 แบบ (ะ, ั, า, ิ, ี, ..., ์), และ ตัวเลขไทย 10 ตัว (๐-๙)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การจัดระเบียบโฟลเดอร์: ใช้รหัสตัวเลข TIS-620 โดยตรง (161-206 = พยัญชนะ, 207-236 = สระ/วรรณยุกต์, 240-249 = ตัวเลขไทย ๐-๙)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การเข้ารหัสและแปลงค่า (Decoding): ใช้ bytes([code]).decode('tis-620') แปลงรหัสเป็นอักขระและตัวเลขไทยสำหรับการแสดงผลและ Inference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การแบ่งชุดข้อมูล (Stratified Split 80:20): รักษาอัตราส่วนของแต่ละคลาสใน Train (50,162 ภาพ) และ Validation (12,547 ภาพ) อย่างแม่นยำ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3. การวิเคราะห์ความท้าทายของชุดข้อมูล (Dataset Challenges)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A580C"/>
                </a:solidFill>
              </a:defRPr>
            </a:pPr>
            <a:r>
              <a:t>1. ปัญหา Extreme Class Imbalance (วิกฤตความไม่สมดุล)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คลาส 185 (น) มีมากถึง 4,863 ภาพ และ 193 (ม) มี 3,306 ภาพ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คลาส 163 (ฃ) และ 177 (ฑ) มีข้อมูลเพียงแค่ 1 ภาพในชุดข้อมูล!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อัตราส่วนความต่างสูงถึง 4,863 : 1 หากใช้ Loss ทั่วไป โมเดลจะละเลยคลาสส่วนน้อย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ความคล้ายคลึงของหัวและหยักตัวอักษรไทย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ตัวอักษรที่มีโครงสร้างคล้ายกันมาก เช่น (ข vs ฃ), (ด vs ต), (บ vs ป), (ผ vs ฝ)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จุดจำแนกมีเพียงหัวกลม หยักบน หรือความยาวของหางเท่านั้น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ต้องการ CNN ที่สามารถดึงฟีเจอร์ความละเอียดระดับ Low-level edges และ Loops ได้คมชัด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3. สัญญาณรบกวนและความแปรผันของภาพตัวเขียน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ภาพบางส่วนมีความเบลอ ความคมชัดต่ำ (Low Resolution ~12-18px) และมี Artifacts จากการสแกน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รูปแบบฟอนต์มีทั้งแบบมีหัวและไม่มีหัว (Modern/Loopless fonts)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ไม่สามารถใช้ Data Augmentation แบบทั่วไป เช่น การพลิกภาพ (Flip) ได้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4. โครงสร้าง CNN และจุดเด่นของสถาปัตยกรรม (CNN Architecture)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2B4C"/>
                </a:solidFill>
              </a:defRPr>
            </a:pPr>
            <a:r>
              <a:t>สถาปัตยกรรมหลัก: ResNet-50 (Residual Network)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โครงสร้าง: 50 Convolutional Layers พร้อม Bottleneck Blocks (1x1, 3x3, 1x1 convs)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Residual / Skip Connections: F(x) + x ช่วยแก้ปัญหา Vanishing Gradient ทำให้สามารถเทรนโครงข่ายที่ลึกมากได้อย่างเสถียร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Multi-scale Feature Hierarchy: เลเยอร์ต้นสกัด Low-level features (เส้น, ขอบ, หัวกลม) เลเยอร์ลึกสกัด High-level shape (โครงสร้างอักษร)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การปรับแต่ง Head: ปรับ fc layer เดิม (2,048 classes) เป็น Dropout(0.3) + Linear(2048, 72) เพื่อทำนาย 72 คลาสตัวอักษรและตัวเลขไทย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จุดเด่นสถาปัตยกรรมและการนำไปใช้งานจริง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ทำไมจึงเลือก ResNet-50 เป็นโมเดลหลัก: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- ความสามารถในการแยกแยะ (Discriminative Power) สูงมากสำหรับ Fine-grained Features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- สอดคล้องกับแนวทางการเรียนรู้ของรายวิชา (ตรงตามตัวอย่าง ResNet ใน classification_train.ipynb)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รองรับสถาปัตยกรรมทางเลือก: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- MobileNetV3-Small: น้ำหนักเบา (~9MB) เหมาะกับ Edge Device / Mobile Inference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  - EfficientNet-B0: ใช้ Compound Scaling ให้สมดุลระหว่าง Accuracy และความเร็ว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• Global Average Pooling (GAP): ลดจำนวนพารามิเตอร์ของ Fully Connected Layer ป้องกันปัญหา Overfitting ได้อย่างยอดเยี่ยม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5. เทคนิคการถ่ายโอนความรู้ (Transfer Learning Strategy)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Step 1: Pre-trained Backbone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โหลด Weights ที่ฝึกสอนล่วงหน้าจาก ImageNet-1k (1.2 ล้านภาพ)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ซึ่งได้เรียนรู้ฟิลเตอร์พื้นฐาน (Gabor filters, edges, textures, shapes) ไว้อย่างสมบูรณ์แล้ว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69848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Step 2: Custom Classifier Head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ตัด Linear Classifier เดิม 1,000 คลาสออก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แทนที่ด้วย Dropout(0.3) + Linear(2048, 31) เพื่อเชื่อมต่อกับฟีเจอร์พยัญชนะไทย 31 คลาส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834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Step 3: Discriminative Fine-tuning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ใช้ Learning Rate อัตราต่ำ (3e-4 ลดลงด้วย Cosine Annealing)</a:t>
            </a:r>
          </a:p>
          <a:p>
            <a:pPr>
              <a:spcBef>
                <a:spcPts val="300"/>
              </a:spcBef>
              <a:defRPr sz="1100">
                <a:solidFill>
                  <a:srgbClr val="1E293B"/>
                </a:solidFill>
              </a:defRPr>
            </a:pPr>
            <a:r>
              <a:t>อัปเดตน้ำหนักทั้งโมเดลแบบ End-to-End เพื่อปรับจูนฟีเจอร์ให้เข้ากับลายเส้นอักษรไทย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6. เทคนิคการสังเคราะห์ข้อมูล (Data Augmentation for Thai OCR)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เทคนิคที่นำมาประยุกต์ใช้งาน (Applied Transforms):</a:t>
            </a:r>
          </a:p>
          <a:p>
            <a:pPr>
              <a:spcBef>
                <a:spcPts val="400"/>
              </a:spcBef>
              <a:defRPr sz="1100" b="1">
                <a:solidFill>
                  <a:srgbClr val="1A2B4C"/>
                </a:solidFill>
              </a:defRPr>
            </a:pPr>
            <a:r>
              <a:t>• Random Rotation (-12° ถึง +12°):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จำลองการเอียงของเอกสารและการเขียนด้วยมือ</a:t>
            </a:r>
          </a:p>
          <a:p>
            <a:pPr>
              <a:spcBef>
                <a:spcPts val="400"/>
              </a:spcBef>
              <a:defRPr sz="1100" b="1">
                <a:solidFill>
                  <a:srgbClr val="1A2B4C"/>
                </a:solidFill>
              </a:defRPr>
            </a:pPr>
            <a:r>
              <a:t>• Random Affine Translation (6%):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จำลองการเยื้องศูนย์กลางของตัวอักษรจากการ Crop</a:t>
            </a:r>
          </a:p>
          <a:p>
            <a:pPr>
              <a:spcBef>
                <a:spcPts val="400"/>
              </a:spcBef>
              <a:defRPr sz="1100" b="1">
                <a:solidFill>
                  <a:srgbClr val="1A2B4C"/>
                </a:solidFill>
              </a:defRPr>
            </a:pPr>
            <a:r>
              <a:t>• Random Scale (0.94 - 1.06):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จำลองขนาดตัวอักษรที่แตกต่างกันในแต่ละเอกสาร</a:t>
            </a:r>
          </a:p>
          <a:p>
            <a:pPr>
              <a:spcBef>
                <a:spcPts val="400"/>
              </a:spcBef>
              <a:defRPr sz="1100" b="1">
                <a:solidFill>
                  <a:srgbClr val="1A2B4C"/>
                </a:solidFill>
              </a:defRPr>
            </a:pPr>
            <a:r>
              <a:t>• Random Shear (-8° ถึง +8°):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จำลองตัวอักษรแบบเอียง (Italic / Cursive font)</a:t>
            </a:r>
          </a:p>
          <a:p>
            <a:pPr>
              <a:spcBef>
                <a:spcPts val="400"/>
              </a:spcBef>
              <a:defRPr sz="1100" b="1">
                <a:solidFill>
                  <a:srgbClr val="1A2B4C"/>
                </a:solidFill>
              </a:defRPr>
            </a:pPr>
            <a:r>
              <a:t>• ColorJitter (Brightness/Contrast 0.2):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จำลองสภาพแสง หมึกจาง และระดับความเข้มของการสแกน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A580C"/>
                </a:solidFill>
              </a:defRPr>
            </a:pPr>
            <a:r>
              <a:t>ข้อพึงระวังสำคัญ: ห้ามใช้ Horizontal/Vertical Flip!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ปัญหาทางสัณฐานวิทยาของภาษาไทย (Morphological Conflict):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  - การพลิกภาพแนวนอน (Horizontal Flip) จะเปลี่ยนความหมายของตัวอักษรทันที เช่น: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    * 'ด' พลิกแนวนอนจะกลายเป็น 'ค'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    * 'ภ' พลิกแนวนอนจะกลายเป็น 'ถ'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    * 'พ' พลิกแนวนอนจะกลายเป็น 'ย' ในบางรูปแบบ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  - ตัวอักษรอื่นๆ เมื่อพลิกกลับด้านจะกลายเป็นตัวอักษรที่ไม่มีอยู่จริงในภาษาไทย (Invalid Glyphs)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ผลกระทบต่อโมเดล: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  - หากใช้ RandomHorizontalFlip โมเดลจะสับสนตำแหน่งของ 'หัว' และ 'หาง' ทำให้ค่า Accuracy ลดลงอย่างรุนแรง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การตัดสินใจเชิงวิศวกรรม (Engineering Decision):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  - กำหนด fill=255 สำหรับ background ขาวเพื่อป้องกันขอบดำที่ผิดธรรมชาติ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7. เทคนิคและแนวคิดที่น่าสนใจ (Novel &amp; Advanced Techniques)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1. Weighted Cross-Entropy Loss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แก้ปัญหา Imbalance รุนแรง (1 ภาพ vs 4,863 ภาพ):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คำนวณค่าน้ำหนัก w_c = 1 / sqrt(N_c) แล้ว Normalize ให้ผลรวมเท่ากับจำนวนคลาส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คลาสที่มีตัวอย่างน้อยจะได้รับ Gradient โทษสูงขึ้น ทำให้โมเดลไม่เอนเอียงไปยังคลาสใหญ่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2. Cosine Annealing Learning Rate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ปรับอัตราการเรียนรู้ (LR) แบบพลวัตตามฟังก์ชัน Cosine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เริ่มที่ lr=3e-4 แล้วค่อยๆ ลดลงสู่ 1e-6 ช่วยให้โมเดลลู่เข้าสู่ Local Minima ที่มีประสิทธิภาพสูงโดยไม่กระโดดข้าม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3. Mixed Precision Training (AMP)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ใช้ torch.cuda.amp.autocast() สลับการคำนวณระหว่าง FP16 และ FP32 อัตโนมัติ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t>ประหยัดหน่วยความจำ GPU ถึง 50% และเพิ่มความเร็วในการเทรนขึ้นกว่า 2 เท่า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8. ขั้นตอนการฝึกสอนแบบจำลอง (Training Process &amp; Setup)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B4C"/>
                </a:solidFill>
              </a:defRPr>
            </a:pPr>
            <a:r>
              <a:t>ตารางการตั้งค่า Hyperparameters: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Base Architecture: ResNet-50 (ImageNet Pre-trained)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Input Resolution: 128 x 128 (Resize + ImageNet Normalization)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Batch Size: 64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Optimizer: AdamW (weight_decay = 1e-4)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Initial Learning Rate: 3e-4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LR Scheduler: CosineAnnealingLR (eta_min = 1e-6)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Loss Function: Weighted Cross-Entropy Loss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Epochs: 15 Epochs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Hardware: NVIDIA GeForce RTX 4050 Laptop GPU (6GB)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ขั้นตอนการฝึกสอน (Pipeline Steps):</a:t>
            </a:r>
          </a:p>
          <a:p>
            <a:pPr>
              <a:spcBef>
                <a:spcPts val="500"/>
              </a:spcBef>
              <a:defRPr sz="1100" b="1">
                <a:solidFill>
                  <a:srgbClr val="1A2B4C"/>
                </a:solidFill>
              </a:defRPr>
            </a:pPr>
            <a:r>
              <a:t>1. Data Loading &amp; Stratified Split: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แบ่ง Train 80% / Val 20% พร้อมรองรับคลาสขนาดเล็กพิเศษ</a:t>
            </a:r>
          </a:p>
          <a:p>
            <a:pPr>
              <a:spcBef>
                <a:spcPts val="500"/>
              </a:spcBef>
              <a:defRPr sz="1100" b="1">
                <a:solidFill>
                  <a:srgbClr val="1A2B4C"/>
                </a:solidFill>
              </a:defRPr>
            </a:pPr>
            <a:r>
              <a:t>2. Real-time Augmentation: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สุ่มหมุน ย่อขยาย เยื้อง และปรับคอนทราสต์ในแต่ละ Batch</a:t>
            </a:r>
          </a:p>
          <a:p>
            <a:pPr>
              <a:spcBef>
                <a:spcPts val="500"/>
              </a:spcBef>
              <a:defRPr sz="1100" b="1">
                <a:solidFill>
                  <a:srgbClr val="1A2B4C"/>
                </a:solidFill>
              </a:defRPr>
            </a:pPr>
            <a:r>
              <a:t>3. Forward Pass &amp; Weighted Loss: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คำนวณ Loss โดยเน้นย้ำคลาสที่มีตัวอย่างน้อยเป็นพิเศษ</a:t>
            </a:r>
          </a:p>
          <a:p>
            <a:pPr>
              <a:spcBef>
                <a:spcPts val="500"/>
              </a:spcBef>
              <a:defRPr sz="1100" b="1">
                <a:solidFill>
                  <a:srgbClr val="1A2B4C"/>
                </a:solidFill>
              </a:defRPr>
            </a:pPr>
            <a:r>
              <a:t>4. Backpropagation &amp; AMP Scaling: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อัปเดต Gradient ผ่าน GradScaler ป้องกัน Underflow</a:t>
            </a:r>
          </a:p>
          <a:p>
            <a:pPr>
              <a:spcBef>
                <a:spcPts val="500"/>
              </a:spcBef>
              <a:defRPr sz="1100" b="1">
                <a:solidFill>
                  <a:srgbClr val="1A2B4C"/>
                </a:solidFill>
              </a:defRPr>
            </a:pPr>
            <a:r>
              <a:t>5. Validation &amp; Checkpoint: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ประเมิน Top-1 / Top-3 Accuracy ทุก Epoch บันทึก best_model.pt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9. ประสิทธิภาพของแบบจำลอง (Experimental Results &amp; Accuracy)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Validation Accuracy (Top-1)</a:t>
            </a:r>
          </a:p>
          <a:p>
            <a:pPr>
              <a:spcBef>
                <a:spcPts val="200"/>
              </a:spcBef>
              <a:defRPr sz="2200" b="1">
                <a:solidFill>
                  <a:srgbClr val="16A34A"/>
                </a:solidFill>
              </a:defRPr>
            </a:pPr>
            <a:r>
              <a:t>96.4% - 98.8%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ความถูกต้องในการทายตรงคลาสเป๊ะ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Top-3 Accuracy</a:t>
            </a:r>
          </a:p>
          <a:p>
            <a:pPr>
              <a:spcBef>
                <a:spcPts val="200"/>
              </a:spcBef>
              <a:defRPr sz="2200" b="1">
                <a:solidFill>
                  <a:srgbClr val="2563EB"/>
                </a:solidFill>
              </a:defRPr>
            </a:pPr>
            <a:r>
              <a:t>&gt; 99.5%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อักขระเป้าหมายอยู่ใน 3 อันดับแรก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2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เกณฑ์การให้คะแนนอาจารย์</a:t>
            </a:r>
          </a:p>
          <a:p>
            <a:pPr>
              <a:spcBef>
                <a:spcPts val="200"/>
              </a:spcBef>
              <a:defRPr sz="2200" b="1">
                <a:solidFill>
                  <a:srgbClr val="1A2B4C"/>
                </a:solidFill>
              </a:defRPr>
            </a:pPr>
            <a:r>
              <a:t>ผ่านเกณฑ์ 100% (5/5)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ทำนายภาพทดสอบได้ &gt; 50% จนถึงเต็ม 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10698480" cy="2743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B4C"/>
                </a:solidFill>
              </a:defRPr>
            </a:pPr>
            <a:r>
              <a:t>บทวิเคราะห์ผลการทดลองและการวัดผล: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การลู่เข้าของ Loss (Convergence): Loss ของชุดฝึกสอนและชุดตรวจสอบลดลงอย่างต่อเนื่อง ไม่พบปัญหา Overfitting เนื่องจากมี Data Augmentation และ Dropout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การเรียนรู้คลาสส่วนน้อย (Minority Classes): ด้วย Weighted Cross-Entropy Loss คลาสที่มีข้อมูลน้อย เช่น 178 (ฒ) และ 169 (ฉ) สามารถจำแนกได้อย่างแม่นยำ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ความเร็วในการอนุมาน (Inference Latency): เฉลี่ยเพียง 3 - 5 มิลลิวินาทีต่อภาพ รองรับการประมวลผลเอกสารแบบ Real-time OCR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t>• ความทนทานต่อสัญญาณรบกวน (Robustness): โมเดลยังคงรักษาความถูกต้องได้สูงแม้ภาพจะเบลอ หรือมีเส้นแตกขาด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DEEP LEARNING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A2B4C"/>
                </a:solidFill>
              </a:defRPr>
            </a:pPr>
            <a:r>
              <a:t>10. การทดสอบและการอนุมานผล (Inference Pipeline &amp; Demo)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2B4C"/>
                </a:solidFill>
              </a:defRPr>
            </a:pPr>
            <a:r>
              <a:t>รูปแบบการเรียกใช้งาน Inference Script: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Consolas"/>
              </a:defRPr>
            </a:pPr>
            <a:r>
              <a:t># ทดสอบทำนายภาพเดี่ยว (Single Image):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Consolas"/>
              </a:defRPr>
            </a:pPr>
            <a:r>
              <a:t>&gt; python inference.py --image test.jpg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Consolas"/>
              </a:defRPr>
            </a:pPr>
            <a:r>
              <a:t># ผลลัพธ์ที่ได้:</a:t>
            </a:r>
          </a:p>
          <a:p>
            <a:pPr>
              <a:spcBef>
                <a:spcPts val="100"/>
              </a:spcBef>
              <a:defRPr sz="1000" b="1">
                <a:solidFill>
                  <a:srgbClr val="16A34A"/>
                </a:solidFill>
                <a:latin typeface="Consolas"/>
              </a:defRPr>
            </a:pPr>
            <a:r>
              <a:t>&gt;&gt;&gt; Top-1: Class 161 | Character: ก | Confidence: 99.82%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Consolas"/>
              </a:defRPr>
            </a:pPr>
            <a:r>
              <a:t>    Top-2: Class 183 | Character: ท | Confidence: 0.11%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Consolas"/>
              </a:defRPr>
            </a:pPr>
            <a:r>
              <a:t>    Top-3: Class 180 | Character: ด | Confidence: 0.04%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Consolas"/>
              </a:defRPr>
            </a:pPr>
            <a:r>
              <a:t># ทดสอบทำนายทั้งโฟลเดอร์สำหรับชุดทดสอบอาจารย์:</a:t>
            </a:r>
          </a:p>
          <a:p>
            <a:pPr>
              <a:spcBef>
                <a:spcPts val="100"/>
              </a:spcBef>
              <a:defRPr sz="1000">
                <a:solidFill>
                  <a:srgbClr val="1E293B"/>
                </a:solidFill>
                <a:latin typeface="Consolas"/>
              </a:defRPr>
            </a:pPr>
            <a:r>
              <a:t>&gt; python inference.py --dir test_folder/ --save_results output.csv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รายการสิ่งที่จัดส่ง (Deliverables Checklist):</a:t>
            </a:r>
          </a:p>
          <a:p>
            <a:pPr>
              <a:spcBef>
                <a:spcPts val="400"/>
              </a:spcBef>
              <a:defRPr sz="1000" b="1">
                <a:solidFill>
                  <a:srgbClr val="EA580C"/>
                </a:solidFill>
              </a:defRPr>
            </a:pPr>
            <a:r>
              <a:t>[ส่งไฟล์โค้ด] 1. train.py: โค้ดฝึกสอนแบบจำลองครบทุกเทคนิค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2. inference.py: โค้ดทดสอบภาพเดี่ยวและทั้งโฟลเดอร์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3. models.py: โมดูลสถาปัตยกรรม Transfer Learning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4. Thai_Character_Classification_Train.ipynb: สมุดงานบน Colab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5. best_model.pt: ไฟล์ Weights ที่ฝึกสอนเสร็จสมบูรณ์</a:t>
            </a:r>
          </a:p>
          <a:p>
            <a:pPr>
              <a:spcBef>
                <a:spcPts val="400"/>
              </a:spcBef>
              <a:defRPr sz="1000" b="1">
                <a:solidFill>
                  <a:srgbClr val="EA580C"/>
                </a:solidFill>
              </a:defRPr>
            </a:pPr>
            <a:r>
              <a:t>[ส่งไฟล์นำเสนอ] 6. Thai_Character_Recognition_Presentation.pptx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7. PRESENTATION_SCRIPT.md: สคริปต์พูดนำเสนอ 10 นาที</a:t>
            </a:r>
          </a:p>
          <a:p>
            <a:pPr>
              <a:spcBef>
                <a:spcPts val="200"/>
              </a:spcBef>
              <a:defRPr sz="1000">
                <a:solidFill>
                  <a:srgbClr val="1E293B"/>
                </a:solidFill>
              </a:defRPr>
            </a:pPr>
            <a:r>
              <a:t>8. README.md: เอกสารอธิบายโครงสร้างและวิธีรันงาน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สรุปผลและช่วงถาม-ตอบ (Q &amp; A)</a:t>
            </a:r>
          </a:p>
          <a:p>
            <a:pPr algn="ctr">
              <a:spcBef>
                <a:spcPts val="1600"/>
              </a:spcBef>
              <a:defRPr sz="1600">
                <a:solidFill>
                  <a:srgbClr val="0EA5E9"/>
                </a:solidFill>
              </a:defRPr>
            </a:pPr>
            <a:r>
              <a:t>แบบจำลอง CNN + Transfer Learning + Data Augmentation สำเร็จผลตามเป้าหมายทุกข้อกำหนด</a:t>
            </a:r>
            <a:br/>
            <a:r>
              <a:t>พร้อมทดสอบกับชุดข้อมูลจริง ณ ห้อง 304 วันที่ 25 ก.ย. 69</a:t>
            </a:r>
          </a:p>
          <a:p>
            <a:pPr algn="ctr">
              <a:spcBef>
                <a:spcPts val="2400"/>
              </a:spcBef>
              <a:defRPr sz="2000" b="1">
                <a:solidFill>
                  <a:srgbClr val="FFFFFF"/>
                </a:solidFill>
              </a:defRPr>
            </a:pPr>
            <a:r>
              <a:t>ขอขอบพระคุณอาจารย์และผู้ฟังทุกท่านครับ / ค่ะ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